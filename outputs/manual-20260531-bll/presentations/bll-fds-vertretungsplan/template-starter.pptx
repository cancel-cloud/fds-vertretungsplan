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a41b518949474f" /><Relationship Type="http://schemas.openxmlformats.org/officeDocument/2006/relationships/extended-properties" Target="/docProps/app.xml" Id="R85999174f01f48b8" /><Relationship Type="http://schemas.openxmlformats.org/officeDocument/2006/relationships/officeDocument" Target="/ppt/presentation.xml" Id="Rf7799f7f30f348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bdda30f354c5a"/>
  </p:sldMasterIdLst>
  <p:notesMasterIdLst>
    <p:notesMasterId xmlns:r="http://schemas.openxmlformats.org/officeDocument/2006/relationships" r:id="R48a78bea2a704541"/>
  </p:notesMasterIdLst>
  <p:sldIdLst>
    <p:sldId xmlns:r="http://schemas.openxmlformats.org/officeDocument/2006/relationships" id="256" r:id="Rb061d19726c84464"/>
    <p:sldId xmlns:r="http://schemas.openxmlformats.org/officeDocument/2006/relationships" id="257" r:id="Rfb681939be98459e"/>
    <p:sldId xmlns:r="http://schemas.openxmlformats.org/officeDocument/2006/relationships" id="258" r:id="R69c20cf7a7da4871"/>
    <p:sldId xmlns:r="http://schemas.openxmlformats.org/officeDocument/2006/relationships" id="259" r:id="R9712ef8d12104693"/>
    <p:sldId xmlns:r="http://schemas.openxmlformats.org/officeDocument/2006/relationships" id="260" r:id="Rd7d2a667067b4e0e"/>
    <p:sldId xmlns:r="http://schemas.openxmlformats.org/officeDocument/2006/relationships" id="261" r:id="R7fe2f24716d44042"/>
    <p:sldId xmlns:r="http://schemas.openxmlformats.org/officeDocument/2006/relationships" id="262" r:id="R6a7a1b5a30f2462b"/>
    <p:sldId xmlns:r="http://schemas.openxmlformats.org/officeDocument/2006/relationships" id="263" r:id="Rde91b979c61e47c4"/>
    <p:sldId xmlns:r="http://schemas.openxmlformats.org/officeDocument/2006/relationships" id="264" r:id="Rd597234658c84d17"/>
    <p:sldId xmlns:r="http://schemas.openxmlformats.org/officeDocument/2006/relationships" id="265" r:id="R74a7c9527ef94058"/>
    <p:sldId xmlns:r="http://schemas.openxmlformats.org/officeDocument/2006/relationships" id="266" r:id="Rd76f8750ff0a49d8"/>
    <p:sldId xmlns:r="http://schemas.openxmlformats.org/officeDocument/2006/relationships" id="267" r:id="R94a534909e3c40ce"/>
    <p:sldId xmlns:r="http://schemas.openxmlformats.org/officeDocument/2006/relationships" id="268" r:id="R16521fafb8a842ea"/>
    <p:sldId xmlns:r="http://schemas.openxmlformats.org/officeDocument/2006/relationships" id="269" r:id="R5a0ef40e86ab4c00"/>
    <p:sldId xmlns:r="http://schemas.openxmlformats.org/officeDocument/2006/relationships" id="270" r:id="Rc8b690846a6b4b0d"/>
    <p:sldId xmlns:r="http://schemas.openxmlformats.org/officeDocument/2006/relationships" id="271" r:id="Rcd96d56839694dd3"/>
    <p:sldId xmlns:r="http://schemas.openxmlformats.org/officeDocument/2006/relationships" id="272" r:id="Ra10c9d03c941459f"/>
    <p:sldId xmlns:r="http://schemas.openxmlformats.org/officeDocument/2006/relationships" id="273" r:id="R575e4751a333497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bdda30f354c5a" /><Relationship Type="http://schemas.openxmlformats.org/officeDocument/2006/relationships/theme" Target="/ppt/theme/theme1.xml" Id="R71947b17b2284d94" /><Relationship Type="http://schemas.openxmlformats.org/officeDocument/2006/relationships/notesMaster" Target="/ppt/notesMasters/notesMaster1.xml" Id="R48a78bea2a704541" /><Relationship Type="http://schemas.openxmlformats.org/officeDocument/2006/relationships/presProps" Target="/ppt/presProps.xml" Id="Rab85470f06ae4538" /><Relationship Type="http://schemas.openxmlformats.org/officeDocument/2006/relationships/viewProps" Target="/ppt/viewProps.xml" Id="R28a92ad2ec934f67" /><Relationship Type="http://schemas.openxmlformats.org/officeDocument/2006/relationships/tableStyles" Target="/ppt/tableStyles.xml" Id="R5fcffa63807b45bb" /><Relationship Type="http://schemas.openxmlformats.org/officeDocument/2006/relationships/slide" Target="/ppt/slides/slide1.xml" Id="Rb061d19726c84464" /><Relationship Type="http://schemas.openxmlformats.org/officeDocument/2006/relationships/slide" Target="/ppt/slides/slide2.xml" Id="Rfb681939be98459e" /><Relationship Type="http://schemas.openxmlformats.org/officeDocument/2006/relationships/slide" Target="/ppt/slides/slide3.xml" Id="R69c20cf7a7da4871" /><Relationship Type="http://schemas.openxmlformats.org/officeDocument/2006/relationships/slide" Target="/ppt/slides/slide4.xml" Id="R9712ef8d12104693" /><Relationship Type="http://schemas.openxmlformats.org/officeDocument/2006/relationships/slide" Target="/ppt/slides/slide5.xml" Id="Rd7d2a667067b4e0e" /><Relationship Type="http://schemas.openxmlformats.org/officeDocument/2006/relationships/slide" Target="/ppt/slides/slide6.xml" Id="R7fe2f24716d44042" /><Relationship Type="http://schemas.openxmlformats.org/officeDocument/2006/relationships/slide" Target="/ppt/slides/slide7.xml" Id="R6a7a1b5a30f2462b" /><Relationship Type="http://schemas.openxmlformats.org/officeDocument/2006/relationships/slide" Target="/ppt/slides/slide8.xml" Id="Rde91b979c61e47c4" /><Relationship Type="http://schemas.openxmlformats.org/officeDocument/2006/relationships/slide" Target="/ppt/slides/slide9.xml" Id="Rd597234658c84d17" /><Relationship Type="http://schemas.openxmlformats.org/officeDocument/2006/relationships/slide" Target="/ppt/slides/slide10.xml" Id="R74a7c9527ef94058" /><Relationship Type="http://schemas.openxmlformats.org/officeDocument/2006/relationships/slide" Target="/ppt/slides/slide11.xml" Id="Rd76f8750ff0a49d8" /><Relationship Type="http://schemas.openxmlformats.org/officeDocument/2006/relationships/slide" Target="/ppt/slides/slide12.xml" Id="R94a534909e3c40ce" /><Relationship Type="http://schemas.openxmlformats.org/officeDocument/2006/relationships/slide" Target="/ppt/slides/slide13.xml" Id="R16521fafb8a842ea" /><Relationship Type="http://schemas.openxmlformats.org/officeDocument/2006/relationships/slide" Target="/ppt/slides/slide14.xml" Id="R5a0ef40e86ab4c00" /><Relationship Type="http://schemas.openxmlformats.org/officeDocument/2006/relationships/slide" Target="/ppt/slides/slide15.xml" Id="Rc8b690846a6b4b0d" /><Relationship Type="http://schemas.openxmlformats.org/officeDocument/2006/relationships/slide" Target="/ppt/slides/slide16.xml" Id="Rcd96d56839694dd3" /><Relationship Type="http://schemas.openxmlformats.org/officeDocument/2006/relationships/slide" Target="/ppt/slides/slide17.xml" Id="Ra10c9d03c941459f" /><Relationship Type="http://schemas.openxmlformats.org/officeDocument/2006/relationships/slide" Target="/ppt/slides/slide18.xml" Id="R575e4751a333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b0e8195b53f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0d9d03ce249b1" /><Relationship Type="http://schemas.openxmlformats.org/officeDocument/2006/relationships/notesMaster" Target="/ppt/notesMasters/notesMaster1.xml" Id="R56177d05000b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a5784209374cc4" /><Relationship Type="http://schemas.openxmlformats.org/officeDocument/2006/relationships/notesMaster" Target="/ppt/notesMasters/notesMaster1.xml" Id="R682c36879da4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15d37dcb5a4ed5" /><Relationship Type="http://schemas.openxmlformats.org/officeDocument/2006/relationships/notesMaster" Target="/ppt/notesMasters/notesMaster1.xml" Id="Rb608d7d9b15f42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4c5b4fe82c43f5" /><Relationship Type="http://schemas.openxmlformats.org/officeDocument/2006/relationships/notesMaster" Target="/ppt/notesMasters/notesMaster1.xml" Id="Reedd8e6f17c1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908f47033f45ff" /><Relationship Type="http://schemas.openxmlformats.org/officeDocument/2006/relationships/notesMaster" Target="/ppt/notesMasters/notesMaster1.xml" Id="R6cad119d9f25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881e1fd7e4df1" /><Relationship Type="http://schemas.openxmlformats.org/officeDocument/2006/relationships/notesMaster" Target="/ppt/notesMasters/notesMaster1.xml" Id="R7150d3161b3e45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ddc2a82594fac" /><Relationship Type="http://schemas.openxmlformats.org/officeDocument/2006/relationships/notesMaster" Target="/ppt/notesMasters/notesMaster1.xml" Id="Rde720c8616e144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bf4c07b5b4664" /><Relationship Type="http://schemas.openxmlformats.org/officeDocument/2006/relationships/notesMaster" Target="/ppt/notesMasters/notesMaster1.xml" Id="Rb930689f15c847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b18d46d3fc4b30" /><Relationship Type="http://schemas.openxmlformats.org/officeDocument/2006/relationships/notesMaster" Target="/ppt/notesMasters/notesMaster1.xml" Id="Ref4b1f13c75c4f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69d2a1d6d4f9d" /><Relationship Type="http://schemas.openxmlformats.org/officeDocument/2006/relationships/notesMaster" Target="/ppt/notesMasters/notesMaster1.xml" Id="R39e6c974d3b046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82de5fe14a4360" /><Relationship Type="http://schemas.openxmlformats.org/officeDocument/2006/relationships/notesMaster" Target="/ppt/notesMasters/notesMaster1.xml" Id="R163008f9236b49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005a583a024335" /><Relationship Type="http://schemas.openxmlformats.org/officeDocument/2006/relationships/notesMaster" Target="/ppt/notesMasters/notesMaster1.xml" Id="R29660fbbcc8a48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cb4ecc63314eab" /><Relationship Type="http://schemas.openxmlformats.org/officeDocument/2006/relationships/notesMaster" Target="/ppt/notesMasters/notesMaster1.xml" Id="R2826a2ff844545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f23111a00d4761" /><Relationship Type="http://schemas.openxmlformats.org/officeDocument/2006/relationships/notesMaster" Target="/ppt/notesMasters/notesMaster1.xml" Id="R88b4b1518ad341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1ff617b8a04671" /><Relationship Type="http://schemas.openxmlformats.org/officeDocument/2006/relationships/notesMaster" Target="/ppt/notesMasters/notesMaster1.xml" Id="R628a85aa149749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bab19829d74456" /><Relationship Type="http://schemas.openxmlformats.org/officeDocument/2006/relationships/notesMaster" Target="/ppt/notesMasters/notesMaster1.xml" Id="R00d17819ae7843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e7ee0380a04170" /><Relationship Type="http://schemas.openxmlformats.org/officeDocument/2006/relationships/notesMaster" Target="/ppt/notesMasters/notesMaster1.xml" Id="R971e06c0657446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e89cf093cdb4ba7" /><Relationship Type="http://schemas.openxmlformats.org/officeDocument/2006/relationships/notesMaster" Target="/ppt/notesMasters/notesMaster1.xml" Id="Ra5bdb33c5f1d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01c6f0b144505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5dd46d3d63451d" /><Relationship Type="http://schemas.openxmlformats.org/officeDocument/2006/relationships/slideLayout" Target="/ppt/slideLayouts/slideLayout2.xml" Id="Rbc3aff055cda43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aff055cda4306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689e3b00cc4519" /><Relationship Type="http://schemas.openxmlformats.org/officeDocument/2006/relationships/notesSlide" Target="/ppt/notesSlides/notesSlide1.xml" Id="Rf9bf6af1ce0d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a8ebf5f614dd3" /><Relationship Type="http://schemas.openxmlformats.org/officeDocument/2006/relationships/notesSlide" Target="/ppt/notesSlides/notesSlide2.xml" Id="R16be4746b3684a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7a1c754fd54ae6" /><Relationship Type="http://schemas.openxmlformats.org/officeDocument/2006/relationships/image" Target="/ppt/media/image.gif" Id="Rbe00a2d989144aa1" /><Relationship Type="http://schemas.openxmlformats.org/officeDocument/2006/relationships/image" Target="/ppt/media/image.png" Id="R7a098722996640dd" /><Relationship Type="http://schemas.openxmlformats.org/officeDocument/2006/relationships/notesSlide" Target="/ppt/notesSlides/notesSlide3.xml" Id="Ra00c88fcc8d54d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e9fc16e2664a5d" /><Relationship Type="http://schemas.openxmlformats.org/officeDocument/2006/relationships/image" Target="/ppt/media/image2.png" Id="R8b511b733e01467f" /><Relationship Type="http://schemas.openxmlformats.org/officeDocument/2006/relationships/image" Target="/ppt/media/image3.png" Id="Rffc857e6765549eb" /><Relationship Type="http://schemas.openxmlformats.org/officeDocument/2006/relationships/image" Target="/ppt/media/image4.png" Id="R05f2ebda101043fa" /><Relationship Type="http://schemas.openxmlformats.org/officeDocument/2006/relationships/notesSlide" Target="/ppt/notesSlides/notesSlide4.xml" Id="Rd7988dd2b6b340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91b4a4fbde4d56" /><Relationship Type="http://schemas.openxmlformats.org/officeDocument/2006/relationships/notesSlide" Target="/ppt/notesSlides/notesSlide5.xml" Id="Rf05c9270153841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a85b1835346a2" /><Relationship Type="http://schemas.openxmlformats.org/officeDocument/2006/relationships/notesSlide" Target="/ppt/notesSlides/notesSlide6.xml" Id="R984978c93437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a6371be35a4719" /><Relationship Type="http://schemas.openxmlformats.org/officeDocument/2006/relationships/notesSlide" Target="/ppt/notesSlides/notesSlide7.xml" Id="R2beee691e0f54d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69a0a33524e13" /><Relationship Type="http://schemas.openxmlformats.org/officeDocument/2006/relationships/notesSlide" Target="/ppt/notesSlides/notesSlide8.xml" Id="R8bb323baf19e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b19f58db34454b" /><Relationship Type="http://schemas.openxmlformats.org/officeDocument/2006/relationships/image" Target="/ppt/media/image5.png" Id="R23993fee43bf4c59" /><Relationship Type="http://schemas.openxmlformats.org/officeDocument/2006/relationships/image" Target="/ppt/media/image6.png" Id="Raa30b8bb2a654153" /><Relationship Type="http://schemas.openxmlformats.org/officeDocument/2006/relationships/image" Target="/ppt/media/image7.png" Id="Rbcca42b407ad4220" /><Relationship Type="http://schemas.openxmlformats.org/officeDocument/2006/relationships/image" Target="/ppt/media/image8.png" Id="Rf252d48c20934892" /><Relationship Type="http://schemas.openxmlformats.org/officeDocument/2006/relationships/image" Target="/ppt/media/image9.png" Id="R1e7cb00c9112495e" /><Relationship Type="http://schemas.openxmlformats.org/officeDocument/2006/relationships/notesSlide" Target="/ppt/notesSlides/notesSlide9.xml" Id="Rad50015a7ddb4d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0b87f96ead44a3" /><Relationship Type="http://schemas.openxmlformats.org/officeDocument/2006/relationships/image" Target="/ppt/media/image5.png" Id="R651948e2becf4aab" /><Relationship Type="http://schemas.openxmlformats.org/officeDocument/2006/relationships/image" Target="/ppt/media/image10.png" Id="R6c16c90b78ee4254" /><Relationship Type="http://schemas.openxmlformats.org/officeDocument/2006/relationships/notesSlide" Target="/ppt/notesSlides/notesSlide10.xml" Id="Rac35dd1691714d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7aa5b835f4061" /><Relationship Type="http://schemas.openxmlformats.org/officeDocument/2006/relationships/image" Target="/ppt/media/image5.png" Id="Rb5bc8e436ae74802" /><Relationship Type="http://schemas.openxmlformats.org/officeDocument/2006/relationships/image" Target="/ppt/media/image10.png" Id="R470e7579872f40e8" /><Relationship Type="http://schemas.openxmlformats.org/officeDocument/2006/relationships/notesSlide" Target="/ppt/notesSlides/notesSlide11.xml" Id="Rd5f494bd78fe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ea19734cae45ae" /><Relationship Type="http://schemas.openxmlformats.org/officeDocument/2006/relationships/notesSlide" Target="/ppt/notesSlides/notesSlide12.xml" Id="Rcf68360241694a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1d1140a2634318" /><Relationship Type="http://schemas.openxmlformats.org/officeDocument/2006/relationships/notesSlide" Target="/ppt/notesSlides/notesSlide13.xml" Id="R9847ac73ab3e4a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f9c59fa984248" /><Relationship Type="http://schemas.openxmlformats.org/officeDocument/2006/relationships/image" Target="/ppt/media/image9.png" Id="R4754daca5aff4269" /><Relationship Type="http://schemas.openxmlformats.org/officeDocument/2006/relationships/image" Target="/ppt/media/image11.png" Id="Rd19fe968002a4999" /><Relationship Type="http://schemas.openxmlformats.org/officeDocument/2006/relationships/image" Target="/ppt/media/image12.png" Id="Rf456fffe307948fa" /><Relationship Type="http://schemas.openxmlformats.org/officeDocument/2006/relationships/image" Target="/ppt/media/image13.png" Id="Rbeb197f7c4b549f0" /><Relationship Type="http://schemas.openxmlformats.org/officeDocument/2006/relationships/image" Target="/ppt/media/image14.png" Id="R8106351c651f4dbc" /><Relationship Type="http://schemas.openxmlformats.org/officeDocument/2006/relationships/image" Target="/ppt/media/image15.png" Id="R8274defbe1394dd5" /><Relationship Type="http://schemas.openxmlformats.org/officeDocument/2006/relationships/image" Target="/ppt/media/image16.png" Id="R490fd7252b694131" /><Relationship Type="http://schemas.openxmlformats.org/officeDocument/2006/relationships/notesSlide" Target="/ppt/notesSlides/notesSlide14.xml" Id="R7bb3fae3e35440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bd22e85974e07" /><Relationship Type="http://schemas.openxmlformats.org/officeDocument/2006/relationships/image" Target="/ppt/media/image17.png" Id="R7b84a66f45dd44c9" /><Relationship Type="http://schemas.openxmlformats.org/officeDocument/2006/relationships/image" Target="/ppt/media/image7.png" Id="R2e0f7c486cd14b69" /><Relationship Type="http://schemas.openxmlformats.org/officeDocument/2006/relationships/image" Target="/ppt/media/image10.png" Id="Ra7b833e94a7246d7" /><Relationship Type="http://schemas.openxmlformats.org/officeDocument/2006/relationships/image" Target="/ppt/media/image5.png" Id="Ra387fbb905174451" /><Relationship Type="http://schemas.openxmlformats.org/officeDocument/2006/relationships/notesSlide" Target="/ppt/notesSlides/notesSlide15.xml" Id="Rd78069a7ed784b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54b519e23f4c8c" /><Relationship Type="http://schemas.openxmlformats.org/officeDocument/2006/relationships/notesSlide" Target="/ppt/notesSlides/notesSlide16.xml" Id="R118a955ee8af47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b3e0c6ea554448" /><Relationship Type="http://schemas.openxmlformats.org/officeDocument/2006/relationships/notesSlide" Target="/ppt/notesSlides/notesSlide17.xml" Id="R9642406a7ca34b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97e86614734755" /><Relationship Type="http://schemas.openxmlformats.org/officeDocument/2006/relationships/notesSlide" Target="/ppt/notesSlides/notesSlide18.xml" Id="Rf13bd441fab04e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CC7362-5EF2-4865-9ED6-C0F4150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13CD78-BBE8-47E6-B664-6FAB0C5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5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BESONDERE LERNLEISTUNG  ·  PRAKTISCHE INFORMATIK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397462-DFDF-47A4-B294-B4546FDD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80467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Moderne Webentwicklung am Beispiel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einer alternativen Vertretungsplan-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Anwendung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BF0DA14-C721-4980-A7C8-837B35C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659564-6B5A-4000-AC9F-E4C6F4D6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Lukas Dienst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Peter-Paul-Cahensly  ·  Abitur 2026</a:t>
            </a:r>
          </a:p>
        </p:txBody>
      </p:sp>
    </p:spTree>
    <p:extLst>
      <p:ext uri="{BB962C8B-B14F-4D97-AF65-F5344CB8AC3E}">
        <p14:creationId xmlns:p14="http://schemas.microsoft.com/office/powerpoint/2010/main" val="118950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D708EB-C9E9-4731-B1AB-EE6B27C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200B46-5A9A-4B97-8D63-B4D2A3C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2  ·  ZIELSETZUNG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4ADF07-E380-4155-8D10-0C3C70F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SMART-Ziele und Status zum Abgabezeitpunkt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E5D4A5-F54D-42FB-8275-2B5213A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D68C26-848A-4F89-9310-CC934AFA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62546F-BA55-4473-93D1-E4ADCBB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48C137-3301-43D3-BDDF-2AD458A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17320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Schneller Zugriff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05C936-E2B9-431A-B7EA-07A4B64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1732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Vertretungen in max. 3 Klicks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9CD1FD4-BB3E-4220-A90F-AD236E0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36192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8B5034-0CCD-4FAD-B17A-6C0296A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3619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CB1661E-9435-46B1-B6BD-877B543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F1FDCE9-CCBA-41BD-AA2B-6405BE1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FCBDFE-3E3E-40FA-B84F-C867BA7B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61D348-5CDE-418D-ABA7-FEF82E1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84248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Filter &amp; Suche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90FE3C2-68EB-4770-A95C-932B4117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4248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Kategorien + Volltextsuche stabil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61E2FA9-41D1-4120-9744-FA69E9CC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03120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A848B8-BD13-4F30-B939-9A3B5E6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031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192AB6-6B58-45A6-9EFB-9323585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D920E05-D691-468A-BC18-ACB6884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181B0E-932D-40D7-89BA-9D0DE546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F28738-20CA-42B0-891B-75A121B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551176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API-Robustheit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780764B-0424-4B80-96F5-B746467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1176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Rate-Limit, Retry, Fehlerpfade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5881997-29BD-4676-97E3-62231B0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70048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05381E7-F822-4903-AC5A-A55B491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70048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7FD8CE2-875D-46E0-BC4B-E1A665E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5B17318-8B45-441C-BE68-3E921010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42A18CB-1F21-4EAC-9807-B00F25E4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S4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3FD7BC4-5653-4007-9248-19BEC04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18104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Sicherheit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BEFBAD8-1E7C-4219-BD27-571270C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810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CSP, Auth, geschützte Bereiche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BBC3BF5-B589-4636-B3ED-DD36940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36976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2960209-3C7C-40D9-9CD5-1E2CDF8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3697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E1F9BB5-6C18-4343-B4FD-12D4B5F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56DF629-99C2-4E4B-A94E-B39EE6E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233D71-9AB2-4779-BB54-DA15E60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S5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7BB96A2-E789-4BD1-9A20-A2E9B81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685032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Wartbarkeit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86CD553-B267-460B-8436-471EC13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850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Tests + dokumentierte Struktur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77AF762-AF2A-41C6-B73D-7756E12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803904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3A69B03-3CE8-42BD-BEC4-5AC1506E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80390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weitgehend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C536E7E-7ACD-4C10-8CBD-9982BBC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S1–S4 vollständig erreicht. S5 ist weitgehend erfüllt, einzelne UI-Randfälle bleiben als Ausbaupotenzial.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C9DAFB3-40A5-4469-B90F-0AC02B3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37DFE84-7DDB-4454-A47A-B104BAB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449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0a2d989144aa1"/>
          <a:srcRect xmlns:a="http://schemas.openxmlformats.org/drawingml/2006/main" l="0" t="0" r="11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17320"/>
            <a:ext cx="4319902" cy="3073400"/>
          </a:xfrm>
          <a:prstGeom xmlns:a="http://schemas.openxmlformats.org/drawingml/2006/main" prst="rect">
            <a:avLst/>
          </a:prstGeom>
        </p:spPr>
      </p:pic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8D4A541-EBBD-43B8-AC3A-5D21B43A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B83EFF-9555-478F-9BE0-166AD626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1  ·  AUSGANGSLAGE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D757EC2-3512-4FA6-9F35-DEEF924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Das Problem: WebUntis im Schulalltag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7AB0CF7-93B7-482A-84F2-25C6DA1B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4297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Original-Anzeige (WebUntis)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16DADE-D317-41C9-9AB0-A8F4FC69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32588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Was funktioniert nicht?</a:t>
            </a:r>
          </a:p>
        </p:txBody>
      </p:sp>
      <p:pic>
        <p:nvPicPr>
          <p:cNvPr id="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87229966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0" y="181965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A2D85D4-C05A-441F-999F-4E8B3AD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8308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Lange Liste, automatisch durchlaufend</a:t>
            </a:r>
          </a:p>
        </p:txBody>
      </p:sp>
      <p:pic>
        <p:nvPicPr>
          <p:cNvPr id="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87229966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0" y="232257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9C130871-442C-4355-8A9B-5D2A9EE5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Keine Suche, keine Kategorien-Filter</a:t>
            </a:r>
          </a:p>
        </p:txBody>
      </p:sp>
      <p:pic>
        <p:nvPicPr>
          <p:cNvPr id="1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87229966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0" y="282549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79309095-F906-4976-928B-ACCDDF0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892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Kein Bezug zum eigenen Stundenplan</a:t>
            </a:r>
          </a:p>
        </p:txBody>
      </p:sp>
      <p:pic>
        <p:nvPicPr>
          <p:cNvPr id="1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87229966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37760" y="332841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B98ED816-5084-4E16-A494-0E01254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918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Auf dem Smartphone unübersichtlich</a:t>
            </a:r>
          </a:p>
        </p:txBody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A5FE7F9E-84CE-40B6-A42B-B2AA1CA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886200"/>
            <a:ext cx="37490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0B34AD5-5C12-41AC-A21E-E33FCEBD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86200"/>
            <a:ext cx="35204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i="1">
                <a:solidFill>
                  <a:srgbClr val="0E7490"/>
                </a:solidFill>
                <a:latin typeface="Calibri"/>
                <a:ea typeface="Calibri"/>
                <a:cs typeface="Calibri"/>
              </a:rPr>
              <a:t>Ziel: nicht die Daten ändern – die Zugänglichkeit verbessern.</a:t>
            </a:r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D412B8F3-419A-4D5E-8639-386F6705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BAAEC0AD-C70E-428D-9277-CD6BA11E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8497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5E3869-A329-44D4-B72F-397E5AC6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EC9123-DDD1-4174-B8B4-E89DF084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1  ·  ERGEBNIS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974591-C419-4ECA-B474-14071D85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Vom allgemeinen Plan zur persönlichen Ansicht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876178A-B985-4E35-A39C-65F8F118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269748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D1B54A-4382-49FB-A7C6-9BC51CD0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26974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11b733e01467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2920" y="1554480"/>
            <a:ext cx="2423160" cy="2377440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CECBEA-27F2-4B00-B5BE-DE5D43F9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A08925F-3109-41EE-965A-58D0F8EE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Vorher: WebUntis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B8355E-3838-4EA0-B0E6-3345E58B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70832"/>
            <a:ext cx="2423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ungefiltert, mobil schwer nutzbar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D7458A-380D-43BD-A834-B4EC05A6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371600"/>
            <a:ext cx="269748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8563012-8B5C-4FC4-8625-25755E0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832" y="1371600"/>
            <a:ext cx="26974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857e6765549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64992" y="1762533"/>
            <a:ext cx="2423160" cy="1961334"/>
          </a:xfrm>
          <a:prstGeom xmlns:a="http://schemas.openxmlformats.org/drawingml/2006/main" prst="rect">
            <a:avLst/>
          </a:prstGeom>
        </p:spPr>
      </p:pic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4C0A5B8-1936-46AE-BC77-DC4437A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40233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94E4AB2-AA80-45F9-A5B2-D3AEA4C5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411480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Alle Vertretungen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F4624A0-1475-4501-954B-CBAEEDC8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4370832"/>
            <a:ext cx="2423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kategorisiert, durchsuchbar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261B720-412D-40C0-B344-3F781FC7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371600"/>
            <a:ext cx="2697480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57A7CDF5-F30B-4726-9CE4-9C3AAE8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1371600"/>
            <a:ext cx="26974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2ebda101043f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27064" y="1554480"/>
            <a:ext cx="2423160" cy="2377440"/>
          </a:xfrm>
          <a:prstGeom xmlns:a="http://schemas.openxmlformats.org/drawingml/2006/main" prst="rect">
            <a:avLst/>
          </a:prstGeom>
        </p:spPr>
      </p:pic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8377CEFA-B0B9-4079-9603-0089B064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0233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00C53852-9686-4145-8435-DFA3B1F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11480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Meine Vertretungen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54C3FEAF-C75B-4B93-8D2D-7F61EA4F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370832"/>
            <a:ext cx="2423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nur Treffer zum Stundenplan</a:t>
            </a:r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E64E1DD8-B538-4EF0-AE5A-8925169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Web-App: ohne Installation auf Smartphone, Tablet und Desktop nutzbar – zentral aktualisierbar.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CF4AE58-B02A-458F-AC9F-C700F5E9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7E0E9BFA-73EF-4087-BDB9-F4B77411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6182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7D708EB-C9E9-4731-B1AB-EE6B27C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200B46-5A9A-4B97-8D63-B4D2A3C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2  ·  ZIELSETZUNG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B4ADF07-E380-4155-8D10-0C3C70F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SMART-Ziele und Status zum Abgabezeitpunkt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E5D4A5-F54D-42FB-8275-2B5213AC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AD68C26-848A-4F89-9310-CC934AFA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62546F-BA55-4473-93D1-E4ADCBB0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48C137-3301-43D3-BDDF-2AD458A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417320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Schneller Zugriff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05C936-E2B9-431A-B7EA-07A4B64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17320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Vertretungen in max. 3 Klicks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9CD1FD4-BB3E-4220-A90F-AD236E0A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36192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08B5034-0CCD-4FAD-B17A-6C0296A0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3619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CB1661E-9435-46B1-B6BD-877B543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F1FDCE9-CCBA-41BD-AA2B-6405BE1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FCBDFE-3E3E-40FA-B84F-C867BA7B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4248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A61D348-5CDE-418D-ABA7-FEF82E1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84248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Filter &amp; Suche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90FE3C2-68EB-4770-A95C-932B4117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84248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Kategorien + Volltextsuche stabil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61E2FA9-41D1-4120-9744-FA69E9CC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03120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A848B8-BD13-4F30-B939-9A3B5E6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10312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192AB6-6B58-45A6-9EFB-9323585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D920E05-D691-468A-BC18-ACB6884E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181B0E-932D-40D7-89BA-9D0DE546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1176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F28738-20CA-42B0-891B-75A121BE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551176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API-Robustheit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780764B-0424-4B80-96F5-B746467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51176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Rate-Limit, Retry, Fehlerpfade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5881997-29BD-4676-97E3-62231B0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70048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05381E7-F822-4903-AC5A-A55B491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70048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7FD8CE2-875D-46E0-BC4B-E1A665E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5B17318-8B45-441C-BE68-3E921010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42A18CB-1F21-4EAC-9807-B00F25E4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8104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S4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3FD7BC4-5653-4007-9248-19BEC04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18104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Sicherheit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BEFBAD8-1E7C-4219-BD27-571270C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810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CSP, Auth, geschützte Bereiche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BBC3BF5-B589-4636-B3ED-DD36940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36976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2960209-3C7C-40D9-9CD5-1E2CDF8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36976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erfüllt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E1F9BB5-6C18-4343-B4FD-12D4B5F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82296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56DF629-99C2-4E4B-A94E-B39EE6E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640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C233D71-9AB2-4779-BB54-DA15E60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85032"/>
            <a:ext cx="640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S5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7BB96A2-E789-4BD1-9A20-A2E9B81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685032"/>
            <a:ext cx="2377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Wartbarkeit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86CD553-B267-460B-8436-471EC13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850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Tests + dokumentierte Struktur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77AF762-AF2A-41C6-B73D-7756E12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803904"/>
            <a:ext cx="10972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3A69B03-3CE8-42BD-BEC4-5AC1506E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80390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weitgehend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C536E7E-7ACD-4C10-8CBD-9982BBC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S1–S4 vollständig erreicht. S5 ist weitgehend erfüllt, einzelne UI-Randfälle bleiben als Ausbaupotenzial.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C9DAFB3-40A5-4469-B90F-0AC02B36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37DFE84-7DDB-4454-A47A-B104BAB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449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A4D81F-7D54-4D55-B5D2-948CD05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25E09A-DADB-4372-AF2D-AC932C6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2  ·  VORGEHEN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A24843-E93C-4558-AAA3-D90B928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Drei Versionen: Iteration statt Wasserfall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268833-4257-4918-B0AA-116C70A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1073E61-78AF-4E04-879D-683DB56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4B6928-A62B-47A2-BB57-16CA015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5F2A03-3F7C-47B2-90E8-C50FD68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Statische Seite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68B8C6-F0CF-4921-84F6-8AD06A9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Browser ruft WebUntis direkt auf.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Keine Filter, keine Personalisierung.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394E47-5117-4157-8DA7-3C5D143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F2D492-86DC-4384-9EA5-D2E66C9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Erkenntnis: ohne Backend nicht erweiterbar.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967A55-1428-4C39-A22F-2041BAE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2D9DEDC-1D5F-44B0-9BBD-B70736AE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7D176D-E922-48C7-95A4-5AD48A5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50C0E0-414E-42E1-A11F-93B5E2C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Next.js-Frontend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BC9C87B-781D-4173-8CA5-83D9681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Routing, aber ohne saubere API-Schicht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und ohne Login.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1F36994-6111-4C58-B57E-30B6A49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C86DF1-CBF2-4F96-B2CB-A34524F4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Erkenntnis: Trennung der Aufgaben fehlt.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8D5548-440B-44E5-806E-B75BB8F1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A4B893C-29D0-4CAF-9A5E-64E01D8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7D67CD-6AB2-4C85-8E44-D5616C2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1B68EEF-887B-47E0-8743-2A68408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Vollständiger Neustart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D51046-F8C8-4F59-9370-CBF7201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Vier-Schichten-Architektur, Auth, DB,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API-Proxy, Push-Logik.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CD3F193-F449-46D2-B051-17BE164D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D79E6C-3DF9-4D47-96A6-20C71B8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Aktuelle, in dieser BLL dokumentierte Version.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26C3DB-2153-4C66-BFC7-AB108D96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Frühe Versionen waren nicht überflüssig – sie haben Anforderungen sichtbar gemacht.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2D81E06-AC94-4F5A-90AB-48C404A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DD4725B-BA32-43E0-BA76-88BF4A1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298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A4D81F-7D54-4D55-B5D2-948CD05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25E09A-DADB-4372-AF2D-AC932C6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2  ·  VORGEHEN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DA24843-E93C-4558-AAA3-D90B9288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Drei Versionen: Iteration statt Wasserfall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268833-4257-4918-B0AA-116C70A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1073E61-78AF-4E04-879D-683DB56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12700">
            <a:solidFill>
              <a:srgbClr val="94A3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4B6928-A62B-47A2-BB57-16CA015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F5F2A03-3F7C-47B2-90E8-C50FD687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Statische Seite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168B8C6-F0CF-4921-84F6-8AD06A95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Browser ruft WebUntis direkt auf.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Keine Filter, keine Personalisierung.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394E47-5117-4157-8DA7-3C5D143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3F2D492-86DC-4384-9EA5-D2E66C9E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Erkenntnis: ohne Backend nicht erweiterbar.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967A55-1428-4C39-A22F-2041BAE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2D9DEDC-1D5F-44B0-9BBD-B70736AE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7D176D-E922-48C7-95A4-5AD48A5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50C0E0-414E-42E1-A11F-93B5E2CB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Next.js-Frontend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BC9C87B-781D-4173-8CA5-83D9681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Routing, aber ohne saubere API-Schicht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und ohne Login.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1F36994-6111-4C58-B57E-30B6A49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C86DF1-CBF2-4F96-B2CB-A34524F4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Erkenntnis: Trennung der Aufgaben fehlt.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8D5548-440B-44E5-806E-B75BB8F1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97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A4B893C-29D0-4CAF-9A5E-64E01D8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7D67CD-6AB2-4C85-8E44-D5616C2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0200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1B68EEF-887B-47E0-8743-2A68408E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Vollständiger Neustart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D51046-F8C8-4F59-9370-CBF7201C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9748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Vier-Schichten-Architektur, Auth, DB,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API-Proxy, Push-Logik.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CD3F193-F449-46D2-B051-17BE164D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57600"/>
            <a:ext cx="2194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D79E6C-3DF9-4D47-96A6-20C71B80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749040"/>
            <a:ext cx="23774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Aktuelle, in dieser BLL dokumentierte Version.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826C3DB-2153-4C66-BFC7-AB108D96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Frühe Versionen waren nicht überflüssig – sie haben Anforderungen sichtbar gemacht.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2D81E06-AC94-4F5A-90AB-48C404A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DD4725B-BA32-43E0-BA76-88BF4A1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298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60B042A-8FF3-4AA9-83F1-3196919A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1CAD18-E76E-4D33-B56F-E0FC7876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ARCHITEKTUR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03E506E-D0CF-4592-9C89-A068FC94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Vier Schichten – jede mit klarer Aufgabe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714403-3DBE-42FA-8BA9-7166CCD6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02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A0C15B-07E4-4B0B-A62A-10E6EA50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02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555C185-D66C-4A2F-AEA2-D709649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371600"/>
            <a:ext cx="77266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986-5826-443C-8416-37835736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26464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Benutzeroberfläche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25E720-AFE1-4E18-8114-243137A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19072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Startseite, Dashboard, Einstellungen, Admin-Bereich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7412305-6EDC-42F3-B0B4-ACA943CC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2" y="1426464"/>
            <a:ext cx="329183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i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Next.js  ·  React  ·  TypeScript  ·  Tailwind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94BE3AC-7B24-4FD1-A314-D246E3E4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502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12700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B3F873-A458-4A58-B0E5-B126464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502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B642630-3EA6-40EC-9C2D-447273E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84832"/>
            <a:ext cx="77266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C0CD8F-80DF-4D2D-B252-8F5373E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9696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Client-Zustand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6E1134-C865-4559-803C-ECECB153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432304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Datenabruf, Client-Cache, Filterlogik, Abort-Steuerung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1C38CEA-2354-4C9D-9AE6-BC6E16BB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9696"/>
            <a:ext cx="2651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i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React Hooks  ·  useSubstitutions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7F00E92-3916-4763-8760-4FDD94F2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8064"/>
            <a:ext cx="502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1978B9-4D69-4385-8CDC-691B399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8064"/>
            <a:ext cx="502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480C787-2637-4C4B-A89C-E821DD23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98064"/>
            <a:ext cx="77266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C409E03-7301-4407-B7FD-BEF20904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529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Server-API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EEF72BD-C84A-440F-85CD-6EBA57BA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45536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Validierung, Rate-Limit, Server-Cache, Auth, Fehlerpfade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9199C31-F4FD-4FF1-8689-5CF810A3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976" y="2852928"/>
            <a:ext cx="38343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i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Next.js API-Routen  ·  NextAuth  ·  Prisma  ·  PostgreSQL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E24851E-134E-478B-9447-C117DC15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1296"/>
            <a:ext cx="5029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F9B8049-2497-415E-8C48-76E1A40F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1296"/>
            <a:ext cx="502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68BACA3-2C3D-45AB-B4BA-BE92BA99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11296"/>
            <a:ext cx="77266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FCB56D-8521-4111-AD35-40E7A33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66160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Externe Datenquelle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BC3F293-559F-4908-9405-287B0C20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5876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WebUntis – nur über die eigene Server-API angesprochen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47CDAD5-54BE-4C48-961B-732A35AD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56616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i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untis-client.ts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C8B39F1-7E9F-45AF-9E2C-387BDFD9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Trennung ermöglicht Erweiterungen wie Push, ohne dass alles gleichzeitig angefasst werden muss.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F296363-A953-4931-ADD4-D4149AD8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F592ED9-63E7-4033-AD62-DAA7536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3194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F555CA-5B5D-4E8E-A43A-2032D6A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161EF0-17F6-4F26-9002-9A4E1D8B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DATENBESCHAFFUNG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76BE84B-4E5C-4BB0-95E9-C33190AC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WebUntis nur über den eigenen API-Proxy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E2E61B5-578C-484C-A479-69B4FBCC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1732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93fee43bf4c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61CB3B-D9D2-471C-8237-FFB8AE1C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659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Browser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51FADB7-6EE5-425B-A689-2E681E01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402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useSubstitutions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F4EBC3E-EDD7-46CF-B465-A1782893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03120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9A2790E-0455-4939-8C71-A9B72FF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141732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0b8bb2a654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0048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40C0EB7-69F9-428E-AD87-72674A9A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19659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Client-Cache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9EBA358-465A-44A1-A4A8-8FE66F33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22402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Treffer → sofort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2EBC17F-737E-4C9F-833B-95F4CEC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103120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96CC8B6-53DB-43A1-B30E-AAD5F82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056" y="141732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a42b407ad42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5696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27D0E1B4-4E82-46C8-81F8-96683ADE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776" y="19659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Server-API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4ACB02D0-1499-4970-9C6C-F373E5DB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776" y="22402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Validierung &amp; Rate-Limit</a:t>
            </a:r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4EDB660-1AAE-4E69-8E03-39623BE3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103120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EF26D53E-D8E3-4973-AE3E-3DE31F14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141732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2d48c20934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1344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54B9406-3D92-4216-AE64-217D1366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19659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Server-Cache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97DD887-6CF7-4ECA-B123-868248F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424" y="22402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stale-while-revalidate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8F585D5-FE9A-4B51-96E7-BC1053BE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2103120"/>
            <a:ext cx="2926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88B0AD0-5835-4344-9906-BB46431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417320"/>
            <a:ext cx="14630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cb00c911249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6992" y="1554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75E1E1EA-1E18-470A-AADE-F153B408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196596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WebUntis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4D5D9A0-9E0B-4D1C-A9C1-43382B0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2402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nur wenn nötig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80747024-37ED-4226-9A1B-02C92512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Drei klar unterschiedene Antworttypen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2A6E4AAE-98C7-4FAA-AE06-39D7961E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69748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F9CC7740-496F-4F8D-AABB-1E1A903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204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substitution</a:t>
            </a:r>
          </a:p>
        </p:txBody>
      </p:sp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7EFF8BA9-746B-4614-921E-10D52DF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Daten vorhanden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DEE13C45-ABFA-48BB-A388-45B5429B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2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Liste anzeigen, Cache befüllen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13C2BAD4-9AF1-4FA2-A59E-7824523E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429000"/>
            <a:ext cx="269748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1595FA0F-B1F9-4799-9D95-DCFBB9BB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5204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meta</a:t>
            </a:r>
          </a:p>
        </p:txBody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D53BA6ED-40B9-463D-8E4C-3E1066EC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9476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Kein Plan / unvollständig</a:t>
            </a:r>
          </a:p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D751B69C-097F-492D-9F81-1228EDD2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50792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Hinweis statt Liste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FFC57AC9-D758-42B1-AEC0-61C2408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29000"/>
            <a:ext cx="269748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C0F48F0A-1FCB-4875-A8FF-A17DF70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04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error</a:t>
            </a:r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8B352A43-797D-4FA4-A35E-9268DB2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4760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Upstream-Fehler / 429</a:t>
            </a:r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DA5F063B-6500-4CF7-913E-1C8FDE2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0792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Fehlermeldung + Retry-Hinweis</a:t>
            </a:r>
          </a:p>
        </p:txBody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3C0F399D-C7D8-4615-9542-D5FD9A6B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Schnittstelle wurde durch Browser-Netzwerkanalyse erschlossen – keine offene Doku verfügbar.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22DBAB6D-75D1-4AB9-B714-1FCDDF3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7BBC15DB-99D5-482C-8E12-D8E7C428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12253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A27C3B-1411-44F6-BEFD-B0CC37D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E290FB-A9A5-4ED0-B559-2486854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DATENMODELL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C87D18-9A3B-43DB-8407-7E1D5508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Was wird gespeichert – und was bewusst nicht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F065DF7-6E8D-4311-B4B6-EB20BF0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48e2becf4a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9659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0B836B-EE8D-4D18-B800-4CCEB77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0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Nutzer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1D02CB7-D1FF-4153-B293-C9490AED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E-Mail, Rolle,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Einstellungen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450106-FE9A-48EB-9CB2-E68BC11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5064"/>
            <a:ext cx="0" cy="2029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73D9CCF-9397-49C6-ACC0-807C51E8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263140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BA22B0C-D2FC-4206-954A-290BC0A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371600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885E8E8-79F8-4B32-900E-579EE422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26464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Stundenplan-Eintrag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5921E55-A246-4A1B-8EB6-753C3478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64208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Wochentag, Stunde, Fach, Lehrer, Raum, Wochenmodus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AF379C6-1FF1-4FE3-B4C1-2D504C5A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50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6A0782C-2548-40D7-8444-82CC702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48256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466CB5-333F-4658-BA9F-00CB7FE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03120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Push-Gerät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539DCE0-09D6-49E3-8B8F-FC66C6C4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40864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Endpoint, Auth-Keys, User-Agent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4ABCE1A-1AF9-47B3-A0DB-2851A7C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172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D1F3C8C-90B8-46B2-A294-61198B9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24912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BA6AE29-27E6-439A-9A6C-EFE009A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79776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Benachrichtigungs-Zustand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F9BFFC-A323-44F8-9866-8B5D3FD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017520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letzter Fingerprint pro Tag (1 Zeile)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4C6B6E7-EC4C-4203-A9C2-D793FB5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8376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7D6BD18-109F-48CB-9323-0C38E8E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E757B98-065C-46E3-B06B-0F5596A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456432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Benachrichtigungs-Abdruck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6D83FE2-8968-4466-A592-CF3C9FF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694176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Audit-Log aller gesendeten Pushs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185269-95B1-49C2-9759-862980E8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85032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F0E703B-3CEC-4BA0-ADB1-9F24CC5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783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76D8BF6-EBCE-406C-85E5-E27C7796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Lehrer-Verzeichnis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7FC0853-0DB9-4C8E-A5F2-8EA72829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36392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Kürzel → voller Name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18ED676-3D94-4A1D-B311-582B5C15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1783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5D069F9-DE37-4250-B601-0B6FAD3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App-Einstellungen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798377A-12EA-4A5C-B7AE-62057BD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76472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erlaubte E-Mail-Domains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22361567-21E2-4E63-A99D-1308214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371600"/>
            <a:ext cx="12801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6c90b78ee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2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823E3BAA-CFC3-4FBD-9B88-BB698B24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11680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Vertretungen werden NICHT persistiert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B7CF408B-8478-4A3F-B068-266F9F7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97480"/>
            <a:ext cx="11887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+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weniger Datenhaltung</a:t>
            </a:r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B923C"/>
                </a:solidFill>
                <a:latin typeface="Calibri"/>
                <a:ea typeface="Calibri"/>
                <a:cs typeface="Calibri"/>
              </a:rPr>
              <a:t>−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weniger Historie für Debugging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A2AA754-5835-44FF-ABCC-7760ED3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Persistente Tabellen: Nutzer, Stundenplan, Push-Geräte, Benachrichtigungs-Zustand. Vertretungen kommen jedes Mal frisch aus WebUntis (mit Cache).</a:t>
            </a:r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BB138C9-590D-469B-AEEB-B832595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C16DDC6-43E8-42A5-BCB1-2BC3127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32164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A27C3B-1411-44F6-BEFD-B0CC37D1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E290FB-A9A5-4ED0-B559-2486854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DATENMODELL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C87D18-9A3B-43DB-8407-7E1D5508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Was wird gespeichert – und was bewusst nicht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F065DF7-6E8D-4311-B4B6-EB20BF06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78308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c8e436ae748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9659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90B836B-EE8D-4D18-B800-4CCEB77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0240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Nutzer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1D02CB7-D1FF-4153-B293-C9490AED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E-Mail, Rolle,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Einstellungen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9450106-FE9A-48EB-9CB2-E68BC119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5064"/>
            <a:ext cx="0" cy="2029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73D9CCF-9397-49C6-ACC0-807C51E8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263140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BA22B0C-D2FC-4206-954A-290BC0A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371600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885E8E8-79F8-4B32-900E-579EE422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26464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Stundenplan-Eintrag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5921E55-A246-4A1B-8EB6-753C3478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64208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Wochentag, Stunde, Fach, Lehrer, Raum, Wochenmodus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AF379C6-1FF1-4FE3-B4C1-2D504C5A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5064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6A0782C-2548-40D7-8444-82CC702B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48256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6466CB5-333F-4658-BA9F-00CB7FEA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03120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Push-Gerät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539DCE0-09D6-49E3-8B8F-FC66C6C4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340864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Endpoint, Auth-Keys, User-Agent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4ABCE1A-1AF9-47B3-A0DB-2851A7C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3172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D1F3C8C-90B8-46B2-A294-61198B9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24912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BA6AE29-27E6-439A-9A6C-EFE009A6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779776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Benachrichtigungs-Zustand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F9BFFC-A323-44F8-9866-8B5D3FDD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017520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letzter Fingerprint pro Tag (1 Zeile)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4C6B6E7-EC4C-4203-A9C2-D793FB5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8376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7D6BD18-109F-48CB-9323-0C38E8E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4206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E757B98-065C-46E3-B06B-0F5596A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456432"/>
            <a:ext cx="3931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Benachrichtigungs-Abdruck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6D83FE2-8968-4466-A592-CF3C9FF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694176"/>
            <a:ext cx="3931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Audit-Log aller gesendeten Pushs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F7185269-95B1-49C2-9759-862980E8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85032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E74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EF0E703B-3CEC-4BA0-ADB1-9F24CC5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783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376D8BF6-EBCE-406C-85E5-E27C7796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Lehrer-Verzeichnis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7FC0853-0DB9-4C8E-A5F2-8EA72829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36392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Kürzel → voller Name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F18ED676-3D94-4A1D-B311-582B5C15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17830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C5D069F9-DE37-4250-B601-0B6FAD3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App-Einstellungen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7798377A-12EA-4A5C-B7AE-62057BD6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76472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erlaubte E-Mail-Domains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22361567-21E2-4E63-A99D-13082140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371600"/>
            <a:ext cx="128016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e7579872f40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8120" y="1508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823E3BAA-CFC3-4FBD-9B88-BB698B24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11680"/>
            <a:ext cx="1188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Vertretungen werden NICHT persistiert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B7CF408B-8478-4A3F-B068-266F9F7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97480"/>
            <a:ext cx="118872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+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weniger Datenhaltung</a:t>
            </a:r>
          </a:p>
          <a:p xmlns:a="http://schemas.openxmlformats.org/drawingml/2006/main">
            <a:pPr marL="0" indent="0" algn="ctr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B923C"/>
                </a:solidFill>
                <a:latin typeface="Calibri"/>
                <a:ea typeface="Calibri"/>
                <a:cs typeface="Calibri"/>
              </a:rPr>
              <a:t>−</a:t>
            </a:r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weniger Historie für Debugging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A2AA754-5835-44FF-ABCC-7760ED3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Persistente Tabellen: Nutzer, Stundenplan, Push-Geräte, Benachrichtigungs-Zustand. Vertretungen kommen jedes Mal frisch aus WebUntis (mit Cache).</a:t>
            </a:r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BB138C9-590D-469B-AEEB-B8325951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EC16DDC6-43E8-42A5-BCB1-2BC3127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32164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CF281F-1ABA-4E15-A43E-9F42568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D7A91E-817A-473B-8CF4-207FF4F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KERNLOGIK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55CE38-191B-4939-8044-B21FE5E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Matching: Ist diese Vertretung für mich relevant?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672CE26-E89D-4BBA-B735-6416EC0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Vier Prüfschritte pro Vertretung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E873E02-57F5-42A5-B9D2-1F542BDC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D424C9-34AD-4EA1-A5F7-883710A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22A911-678B-4268-B4F4-A2543841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479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Wochentag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1EF817-1D2F-4F12-A579-21A35B9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4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Datum der Vertretung → Wochentag des Stundenplan-Eintrags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5E5975-41FC-40B0-BFDF-43C4747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06F38F-A862-4D1D-893F-E9632DA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028134C-F277-4020-9E33-B7F0D738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915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Wochenmodus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3B1E0E4-3CB6-43A1-BD66-ABD93E2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Jede Woche / gerade / ungerade – passt zur Kalenderwoche?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FFF5B5-4969-4687-9DC8-05894D9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656F390-E225-49E4-A3D1-128DE60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4CB97F-E732-4AF9-8629-78DF251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351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Stunden überlappen sich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6895186-41FF-40C7-9B7A-70497F11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296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Stundenblock der Vertretung schneidet den eigenen Stundenblock?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3A04B73-6B5D-45FA-80B1-272C353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D85520-577C-4899-9464-AB80D5C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57FDAE0-617B-49B9-A5F0-64F0EC6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78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Fach, Lehrer oder Raum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8D05918-B667-42E3-8841-EA0445D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Mindestens eines stimmt ausreichend überein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B1CFFCE-7AAF-4120-A960-45B84DA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71600"/>
            <a:ext cx="402336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D43D6E-7AAC-49F8-96F9-AC24668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Pseudocode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618D71-2237-45AF-997B-4ADD396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83080"/>
            <a:ext cx="38404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function istRelevant(v,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// v = Vertretung,  e = Stundenplan-Eintrag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40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v.wochentag != e.wochentag: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not wochenmodusPasst(v,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not stundenUeberlappen(v,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40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return fachLehrerRaumPasst(v, e)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38AD1AC-B9A2-45BB-A0AC-12295F9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Diese Funktion läuft auch im Hintergrund-Dispatch – sie entscheidet, ob jemand überhaupt eine Push-Benachrichtigung bekommt.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C67691B-1646-40E0-AABA-190C8762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38C4E24-8B32-4F22-AAAA-504168A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06195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CCF281F-1ABA-4E15-A43E-9F42568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D7A91E-817A-473B-8CF4-207FF4F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KERNLOGIK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55CE38-191B-4939-8044-B21FE5E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Matching: Ist diese Vertretung für mich relevant?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672CE26-E89D-4BBA-B735-6416EC0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4023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Vier Prüfschritte pro Vertretung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E873E02-57F5-42A5-B9D2-1F542BDC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D424C9-34AD-4EA1-A5F7-883710A4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22A911-678B-4268-B4F4-A2543841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479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Wochentag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1EF817-1D2F-4F12-A579-21A35B9F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4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Datum der Vertretung → Wochentag des Stundenplan-Eintrags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5E5975-41FC-40B0-BFDF-43C47474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C06F38F-A862-4D1D-893F-E9632DA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028134C-F277-4020-9E33-B7F0D738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915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Wochenmodus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3B1E0E4-3CB6-43A1-BD66-ABD93E2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86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Jede Woche / gerade / ungerade – passt zur Kalenderwoche?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FFF5B5-4969-4687-9DC8-05894D9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656F390-E225-49E4-A3D1-128DE60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4CB97F-E732-4AF9-8629-78DF251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351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Stunden überlappen sich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6895186-41FF-40C7-9B7A-70497F11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296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Stundenblock der Vertretung schneidet den eigenen Stundenblock?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3A04B73-6B5D-45FA-80B1-272C353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AD85520-577C-4899-9464-AB80D5C6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616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57FDAE0-617B-49B9-A5F0-64F0EC6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78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Fach, Lehrer oder Raum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8D05918-B667-42E3-8841-EA0445D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Mindestens eines stimmt ausreichend überein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B1CFFCE-7AAF-4120-A960-45B84DA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71600"/>
            <a:ext cx="402336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BD43D6E-7AAC-49F8-96F9-AC24668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Pseudocode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618D71-2237-45AF-997B-4ADD396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83080"/>
            <a:ext cx="38404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function istRelevant(v,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// v = Vertretung,  e = Stundenplan-Eintrag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40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v.wochentag != e.wochentag: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not wochenmodusPasst(v,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if not stundenUeberlappen(v, e):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>
                <a:solidFill>
                  <a:srgbClr val="FB923C"/>
                </a:solidFill>
                <a:latin typeface="Consolas"/>
                <a:ea typeface="Consolas"/>
                <a:cs typeface="Consolas"/>
              </a:rPr>
              <a:t>      return false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40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</a:t>
            </a:r>
          </a:p>
          <a:p xmlns:a="http://schemas.openxmlformats.org/drawingml/2006/main">
            <a:pPr marL="0" indent="0">
              <a:spcAft>
                <a:spcPts val="1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return fachLehrerRaumPasst(v, e)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38AD1AC-B9A2-45BB-A0AC-12295F9B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Diese Funktion läuft auch im Hintergrund-Dispatch – sie entscheidet, ob jemand überhaupt eine Push-Benachrichtigung bekommt.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C67691B-1646-40E0-AABA-190C8762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38C4E24-8B32-4F22-AAAA-504168A8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90619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78D752-D7BD-4FBB-BDE4-4F91424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2ECC45-B92D-43D6-8F20-8549E77A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HINTERGRUNDPROZESS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B4A8CB-FE4F-4787-81AA-F6DA0D6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Push: nur bei tatsächlicher Änderung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F564C3-25BA-4E12-9B47-827A424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30" y="1417320"/>
            <a:ext cx="1737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4daca5aff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9110" y="153619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F2D82CE-7C09-4B81-A994-4A643B5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50" y="1920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Aktuelle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Vertretungen holen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07AD379-E799-4F0E-8F31-AAD85CD3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678" y="187452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D4FD1018-42CF-442A-9C65-E41D2BC8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990" y="1417320"/>
            <a:ext cx="1737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fe968002a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5070" y="153619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5F07443-94D8-4ADD-8EC4-F6B8E6C8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710" y="1920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Matching mit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Stundenplan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CF1F076E-3B75-4B0F-8FE8-CD44B6E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638" y="187452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33EFB9F-0048-4E9E-8A34-039F2B2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950" y="1417320"/>
            <a:ext cx="1737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6fffe3079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1030" y="153619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E3DC827-C3EC-4F81-ACFA-6CB05854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670" y="1920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Fingerprint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berechnen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EA1A4888-B3E2-4F3A-8660-4AEB0675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598" y="1874520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5898367-2389-4790-AF4F-309E97A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10" y="1417320"/>
            <a:ext cx="17373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197f7c4b549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990" y="1536192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0E873198-C322-4E3E-95CB-EEB438DF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630" y="1920240"/>
            <a:ext cx="1645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Vergleich mit</a:t>
            </a:r>
          </a:p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letztem Stand</a:t>
            </a:r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13778F44-709E-424B-9F76-81B658A7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Drei mögliche Aktionen pro Nutzer</a:t>
            </a:r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AC4790D4-BF7B-452B-BDAD-088BEED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26974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9210F840-12E5-4A9D-8BBD-F9F31B6A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6351c651f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03580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44809133-065B-4043-84D4-FE9A142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260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SEND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8C54F011-A80F-41C3-AB86-7E2B5127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Fingerprint geändert / neu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ED01F29C-C839-41F9-AEE5-7027D567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4904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Push senden +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neuen Stand speichern</a:t>
            </a:r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6BEAEB0F-800E-4633-89B6-1AD31CB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926080"/>
            <a:ext cx="26974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5BCAF492-5C92-42DF-87F1-420B0435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92608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4defbe139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303580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17C3F7BB-7980-4F17-AD2A-51FF975E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9260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SKIP</a:t>
            </a:r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4CAB6C54-B2CD-4B97-A466-C7004AC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4747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Fingerprint identisch</a:t>
            </a:r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5B9A718D-FC90-49BB-A135-4A65042A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4904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Nichts tun –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Nutzer nicht erneut nerven</a:t>
            </a:r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1444C510-47A0-4F29-9282-0D116D37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926080"/>
            <a:ext cx="269748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310CFA11-2B62-4DC9-BB95-CDB0760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92608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1270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fd7252b6941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303580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ECBB36D8-6E48-4EEB-855C-500C7656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92608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RESOLVE</a:t>
            </a:r>
          </a:p>
        </p:txBody>
      </p:sp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7421CDA0-9DA9-4864-8CF6-00D515EF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472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Keine Treffer mehr</a:t>
            </a:r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02EC219-C303-4967-A14D-0250386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9040"/>
            <a:ext cx="2423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Alten Zustand löschen –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Vertretung wurde aufgelöst</a:t>
            </a:r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8E439EC7-ED0C-48E5-A721-D76FE567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Externer Scheduler (Upstash QStash) ruft den Dispatch alle 15 Minuten auf – Mo–Fr während der Schulzeit.</a:t>
            </a:r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BA24097B-B367-447E-8395-5DDE239A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ED21349F-D325-48DF-9B9B-792F5FF2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093241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ED77F9A-0611-4E31-A483-27FC1F58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A9AD6B-7795-40F9-80CD-DEA7176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3  ·  QUALITÄT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848DE3-15C3-474C-928C-C0606EF9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Sicherheit &amp; Datenschutz – als Querschnittsthema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1D76D57-A4D1-4B9B-BB53-FB0A2F68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40233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4a66f45dd44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8923910-32D5-489D-A7D0-42DC6CBE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60020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Authentifizierung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7F7B13E-F7C9-4FBE-8F30-BB66274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Geschützte Bereiche nur für angemeldete Nutzer; Middleware + serverseitige Guards prüfen jeden Request.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F25294D-9F4D-4560-A60E-1CCA0B4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1417320"/>
            <a:ext cx="40233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f7c486cd1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8032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3750750-8674-4B8C-B4BF-96D8B85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1600200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Browser-Härtung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27FD42A-0A3E-4358-93E3-A5388E4E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103120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Content Security Policy, CSRF-Schutz auf mutierenden Requests, HTTPS in Produktion verpflichtend.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F85E491-8DB7-47A1-84C7-9F01DAF4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9232"/>
            <a:ext cx="40233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833e94a7246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3182112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B97B289-3F93-4CF0-83BE-AE148B5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182112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Abuse-Schutz</a:t>
            </a: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56E9F064-51A0-446E-B2A8-79A11DB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85032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Rate-Limit auf Registrierung und Login (IP + E-Mail), Begrenzung externer Requests gegen WebUntis.</a:t>
            </a:r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32A3AC3-A97F-438D-8A04-A8FDFE52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999232"/>
            <a:ext cx="40233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7fbb90517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8032" y="3182112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7E12A8CB-9474-42C4-8560-0DA2299E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182112"/>
            <a:ext cx="3154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Datenschutz technisch</a:t>
            </a:r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9614CDE-D2F7-4BD7-AD58-34FF1D3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685032"/>
            <a:ext cx="365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Minimale Datenhaltung, gehashte Passwörter (bcrypt), klare Rollentrennung, Pflichtseiten Impressum/Datenschutz.</a:t>
            </a:r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2B524D8-6246-471D-9D0D-70CBA44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Sicherheit war kein Zusatzblock am Ende, sondern Teil jeder Architekturentscheidung.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913AC14-617C-40B6-BCF5-954A1FB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2F5D3C98-3E46-48A1-B5AF-FD5066B1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77629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D57D6E8-C326-4D46-897F-FCD13B1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F72AA0-EB66-4881-B2E1-0490724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4  ·  QUALITÄT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9B4874E-AE79-45FE-A47F-2ED5D37D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Tests sichern die Kernlogik ab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99FB94-2580-48DD-8942-0C7FD8D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2801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C8FD86-B12D-4699-9FF9-BDF26A1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280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134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D669AB0-FFF2-4ADB-A2F1-793307E4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Testfälle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269EC97-31D6-4990-97E3-1626DCF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17320"/>
            <a:ext cx="12801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D32EA7-C5BD-4B2E-B092-272B40C1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63040"/>
            <a:ext cx="1280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CFBBB95-B708-40CC-971C-E777FD6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2402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Testdateien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EDDC159-82ED-496C-B538-EAE6B4D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17320"/>
            <a:ext cx="12801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7B5781-C732-4C32-B61F-DEFD449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63040"/>
            <a:ext cx="1280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16F49E4-D8E0-4FFB-B3F9-C7A59438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4028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Teststufen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C5CAA75-08C9-4E2B-8A87-C11BDA3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Unit-, Integrations- und Komponententests. Laufen bei jeder Code-Änderung mit.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942C129-E609-44CB-B723-A44F4217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17320"/>
            <a:ext cx="384048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F67145-12CA-4F39-99A9-F97477D6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50876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Beispiel: Delta-Logik schützt vor Spam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9C7536D-004E-4CEF-8531-FA188B5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35661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CDF3500-D704-400E-B08F-6998F81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1168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alter Fingerprint  </a:t>
            </a:r>
            <a:r>
              <a:rPr sz="1000" b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abc123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2DB599-3E15-4016-9195-5EB597A5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4028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neuer Fingerprint  </a:t>
            </a:r>
            <a:r>
              <a:rPr sz="1000" b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abc123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C16EC7-F206-461C-AA1A-AAF2D8D7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42032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→ Ergebnis: </a:t>
            </a:r>
            <a:r>
              <a:rPr sz="1100" b="1" spc="2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SKIP</a:t>
            </a:r>
            <a:r>
              <a:rPr sz="1100" i="1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(kein Push)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0172440-53E7-42E4-A333-2447E0BE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063240"/>
            <a:ext cx="356616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3924B3E-12A3-4B84-A0FF-EA35F0C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5468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alter Fingerprint  </a:t>
            </a:r>
            <a:r>
              <a:rPr sz="1000" b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abc123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E548A93-3266-4A43-88A4-957C9D6C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38328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neuer Fingerprint  </a:t>
            </a: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def456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5091C61-F9FF-48D0-A68D-09CF0BA5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85032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→ Ergebnis: </a:t>
            </a:r>
            <a:r>
              <a:rPr sz="1100" b="1" spc="200">
                <a:solidFill>
                  <a:srgbClr val="0891B2"/>
                </a:solidFill>
                <a:latin typeface="Consolas"/>
                <a:ea typeface="Consolas"/>
                <a:cs typeface="Consolas"/>
              </a:rPr>
              <a:t>SEND</a:t>
            </a:r>
            <a:r>
              <a:rPr sz="1100" i="1">
                <a:solidFill>
                  <a:srgbClr val="E0F2FE"/>
                </a:solidFill>
                <a:latin typeface="Consolas"/>
                <a:ea typeface="Consolas"/>
                <a:cs typeface="Consolas"/>
              </a:rPr>
              <a:t>  (Push wird ausgelöst)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ED4B65A-EC16-4FC7-A5F3-2A635928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1879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So bekommt der Nutzer nur eine Benachrichtigung, wenn sich der Plan tatsächlich geändert hat.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E57918C-2470-4CEA-A079-2F053E5F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5416F51-5CB3-4217-8108-67811CE2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97753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854E3C-D3A2-4F3F-9AC5-BE8610B6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D0C556C-4328-4E30-A108-D70A60EE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4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KAPITEL 5  ·  REFLEXION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38F6EA-B86C-4718-845D-9027F93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Drei zentrale Herausforderungen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AFFA548-8DE1-48C5-A8CF-99730AB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2095E06-AF62-4493-81F0-EF78331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D08786-EA3F-4958-BC95-C041DB9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2423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#1  Schnittstelle ohne Doku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15D470-0C8B-485B-99CA-6DDDD285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871FAD-B435-4C0B-B060-40A9274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4028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WebUntis bietet keine offene API für diesen Anwendungsfall.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19CF59D-25B0-4163-90B5-8C7C2CBE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357D1-5404-4481-A395-C5342AC4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LÖSUNG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736B75-BBB7-4B9A-8D19-8B631F9E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Systematische Netzwerkanalyse, eigenes Datenmodell, Server-Proxy mit Validierung und Cache.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2E026C0-A589-41AB-AC3C-3ED7AB6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974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FE7609F-1C24-48F6-8FB8-3F0827BD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7DB6B09-1F1E-4121-A235-6EFB3E14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423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#2  Push ohne Spam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6F1B11C-404F-481B-97EB-60C3065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16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46AE275-F7DE-41B9-99D0-AA809A80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028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Naive Lösung würde alle 15 Minuten dieselben Inhalte verschicken.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EEA1E38-32F1-4326-B991-9E2712FE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89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FC9771B-12D5-4647-8F8D-7DBD5BF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LÖSUNG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83D2FD1-B9BF-48DC-9050-E3F79C5C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Eigene Delta-Logik mit Fingerprints; drei Aktionen send/skip/resolve, persistenter Zustand.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E836442-D0AD-4A60-A6AC-DA04CCF7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9748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88CC97B-CE90-4F63-9A70-9E6DB269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17320"/>
            <a:ext cx="26974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12700">
            <a:solidFill>
              <a:srgbClr val="0F1B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69F9F04-EB61-43D1-92CA-97E955D0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17320"/>
            <a:ext cx="2423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#3  Architektur-Wachstum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03C448-3F36-41C9-BFA3-FF7DA18E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PROBLEM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D3365EB-4C26-4574-83F6-4E4CB34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4028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V1 und V2 zerbrachen unter neuen Anforderungen wie Login und Personalisierung.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2FBB69B-081D-4CC9-84A8-9554CC0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108960"/>
            <a:ext cx="2331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3D92D54-FA0C-4B79-918B-E687AD25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004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3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LÖSUNG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5546556-EDF2-4401-A70A-2F8B647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429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Bewusster Neustart als V3 mit klarer Schichten-Trennung – Datenmodell zuerst.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A8078B4-E517-433F-88C6-EAFB4CC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346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BLL Vertretungsplan  ·  Lukas Dienst  ·  Abitur 2026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21DF2FC-0900-45E1-8A67-5599F000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346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040646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58B480-4B3F-4CC2-9B4D-C5577A01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879E7A-476D-4680-BF00-1C7D487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500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AUSBLICK  ·  FAZIT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E65F94-2F26-4FD2-A5D4-8529574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8046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Priorisierung relevanter Änderungen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F81F392-22BD-4F45-A967-A1C4628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4231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684A991-2EDD-4F56-BA69-0B470F98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083BEB-84EB-4215-97EE-2393F0BA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18FD145-7B6C-4CE8-A6AB-6F5A095D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Entfall / Verlegung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2DD1B8-A948-4F00-BC26-3F94F76B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94560"/>
            <a:ext cx="2148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echte Auswirkung auf den Tag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7F10F3B-E6D3-4587-BECC-CC75134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4231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49320F9-C456-413E-B4C5-40D68C1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BE479F-C57F-4A63-8E33-D6876CE7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MEDIUM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D15669A-70CB-40E5-86FC-135A6B5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7452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Raum- oder Lehrerwechsel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3EC198-8BBE-4E33-A22E-9B093858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94560"/>
            <a:ext cx="2148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wichtig, aber Unterricht findet statt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0333EE0-75CF-4CB8-B67D-1DBC818B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17320"/>
            <a:ext cx="24231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47E9ED7-F6BD-4BBA-B678-AFD6D3D3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17320"/>
            <a:ext cx="2423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BEA211D-5A23-47F8-852F-D11D1E8F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17320"/>
            <a:ext cx="2423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4C10CAC-501B-4C24-9C0D-FEB6671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874520"/>
            <a:ext cx="2148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Sonstige Hinweise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E0CD742-5C30-4617-AF23-74F8A705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194560"/>
            <a:ext cx="21488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informativ, kein Push nötig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E3E3D6B-25A2-48E3-B0A3-15528E6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71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0891B2"/>
                </a:solidFill>
                <a:latin typeface="Calibri"/>
                <a:ea typeface="Calibri"/>
                <a:cs typeface="Calibri"/>
              </a:rPr>
              <a:t>Technische Pipeline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8C3DAD4-C8F2-41AF-B627-E46ED99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975D638-B4AA-4860-881E-FE6F7BE1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WebUntis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E7A5F3B-4BD8-4367-8F81-40C4B125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589020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5068F7A-7AEB-4C29-AD70-FA48445A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B5FDEFD-0A9A-429B-8D0C-42FCCBD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32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Normalisierung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08DADFD-83E8-4892-B3E2-699F08EC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3589020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1E05A8F-42EF-4916-8877-B40940BC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1943E8-79B7-4D59-BD0E-BF2665BC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Matching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8126D15-314C-4B26-A145-A9DAB1C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589020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2B87D67-2042-438E-82C4-C8F335BE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6FB8C84-C36D-434A-8B42-1BC8831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Priorität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D61F23D-7A63-4ACA-819A-FCB9351E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589020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C50C515-7CD4-40DA-BFAB-C0FA2133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635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F1A0144-2B98-42C6-BF94-0A041CD6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Sortierung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BB09DC0-4515-4697-B2CE-1AD9F826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3589020"/>
            <a:ext cx="1188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34DC466-ACD7-47D0-845D-6D7E6FFC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337560"/>
            <a:ext cx="123444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635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326DCF7-4054-40FD-8CA7-EC330B6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337560"/>
            <a:ext cx="1234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Push (nur HIGH)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ACE530C-1F25-4F80-AF2D-30CFBE4F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5200473-F17E-411B-B373-A38B279F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7680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Aus passiver Anzeige wurde eine aktive, alltagstaugliche Anwendung – die Eigenleistung steckt im Zusammenspiel von API-Proxy, Matching und Delta-basiertem Push.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A0D7CF8-5543-4EFF-9431-CB7DC154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00600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Vielen Dank für Ihre Aufmerksamkeit  ·  Lukas Dienst</a:t>
            </a:r>
          </a:p>
        </p:txBody>
      </p:sp>
    </p:spTree>
    <p:extLst>
      <p:ext uri="{BB962C8B-B14F-4D97-AF65-F5344CB8AC3E}">
        <p14:creationId xmlns:p14="http://schemas.microsoft.com/office/powerpoint/2010/main" val="213560623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2026-05-31T15:35:25.5300000Z</dcterms:created>
  <dcterms:modified xsi:type="dcterms:W3CDTF">2026-05-31T15:35:25.5300000Z</dcterms:modified>
</coreProperties>
</file>